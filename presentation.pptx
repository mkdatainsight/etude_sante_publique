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Century Gothic" panose="020B0502020202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/>
              <a:t>MK</a:t>
            </a:r>
            <a:endParaRPr sz="2800" dirty="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FAO</a:t>
            </a:r>
            <a:endParaRPr dirty="0"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/>
              <a:t>Étude sur l’alimentation dans le monde</a:t>
            </a:r>
            <a:endParaRPr dirty="0"/>
          </a:p>
        </p:txBody>
      </p:sp>
      <p:pic>
        <p:nvPicPr>
          <p:cNvPr id="3" name="Image 2" descr="Une image contenant intérieur&#10;&#10;Le contenu généré par l’IA peut être incorrect.">
            <a:extLst>
              <a:ext uri="{FF2B5EF4-FFF2-40B4-BE49-F238E27FC236}">
                <a16:creationId xmlns:a16="http://schemas.microsoft.com/office/drawing/2014/main" id="{840CCCC4-A017-6E54-F921-226FB0FBD6F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3899" y="3291840"/>
            <a:ext cx="6388101" cy="35661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Contexte et spécification des données</a:t>
            </a:r>
            <a:endParaRPr sz="3200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Analyse des données de l’alimentation dans le monde :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	- Disponibilité alimentaire </a:t>
            </a:r>
            <a:r>
              <a:rPr lang="fr-FR" sz="2000" i="1" dirty="0">
                <a:latin typeface="Aptos Display" panose="020B0004020202020204" pitchFamily="34" charset="0"/>
              </a:rPr>
              <a:t>(pays, produit, caractéristiques du produit, utilisation du produit)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	- Insécurité alimentaire </a:t>
            </a:r>
            <a:r>
              <a:rPr lang="fr-FR" sz="2000" i="1" dirty="0">
                <a:latin typeface="Aptos Display" panose="020B0004020202020204" pitchFamily="34" charset="0"/>
              </a:rPr>
              <a:t>(pays, année, nombre de personnes en situation de sous-nutrition)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	- Populations </a:t>
            </a:r>
            <a:r>
              <a:rPr lang="fr-FR" sz="2000" i="1" dirty="0">
                <a:latin typeface="Aptos Display" panose="020B0004020202020204" pitchFamily="34" charset="0"/>
              </a:rPr>
              <a:t>(pays, année, valeur)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	- Aide alimentaire </a:t>
            </a:r>
            <a:r>
              <a:rPr lang="fr-FR" sz="2000" i="1" dirty="0">
                <a:latin typeface="Aptos Display" panose="020B0004020202020204" pitchFamily="34" charset="0"/>
              </a:rPr>
              <a:t>(pays bénéficiaire, année, produit, montant de l’aide)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4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Méthodologie de l’analyse</a:t>
            </a:r>
            <a:endParaRPr sz="3200" dirty="0"/>
          </a:p>
        </p:txBody>
      </p:sp>
      <p:sp>
        <p:nvSpPr>
          <p:cNvPr id="138" name="Google Shape;138;p3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Données non personnelles : 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	- à l’échelle des nations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	- tendances globales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	- individus non identifiables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400" dirty="0">
              <a:latin typeface="Aptos Display" panose="020B0004020202020204" pitchFamily="34" charset="0"/>
            </a:endParaRP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=&gt; Respect de la RGPD</a:t>
            </a:r>
            <a:endParaRPr sz="24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1) Proportion de personnes en état de sous-nutrition en 2017</a:t>
            </a:r>
            <a:endParaRPr sz="3200"/>
          </a:p>
        </p:txBody>
      </p:sp>
      <p:sp>
        <p:nvSpPr>
          <p:cNvPr id="146" name="Google Shape;146;p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>
              <a:spcBef>
                <a:spcPts val="0"/>
              </a:spcBef>
              <a:buClr>
                <a:srgbClr val="000000"/>
              </a:buClr>
              <a:buFontTx/>
              <a:buChar char="-"/>
            </a:pPr>
            <a:r>
              <a:rPr lang="fr-FR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535 700 000 personnes </a:t>
            </a:r>
          </a:p>
          <a:p>
            <a:pPr marL="342900" lvl="0">
              <a:spcBef>
                <a:spcPts val="0"/>
              </a:spcBef>
              <a:buClr>
                <a:srgbClr val="000000"/>
              </a:buClr>
              <a:buFontTx/>
              <a:buChar char="-"/>
            </a:pPr>
            <a:r>
              <a:rPr lang="fr-FR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touchées par la sous-nutrition</a:t>
            </a:r>
          </a:p>
          <a:p>
            <a:pPr marL="342900" lvl="0">
              <a:spcBef>
                <a:spcPts val="0"/>
              </a:spcBef>
              <a:buClr>
                <a:srgbClr val="000000"/>
              </a:buClr>
              <a:buFontTx/>
              <a:buChar char="-"/>
            </a:pPr>
            <a:endParaRPr lang="fr-FR" sz="2400" dirty="0">
              <a:solidFill>
                <a:schemeClr val="bg1"/>
              </a:solidFill>
              <a:latin typeface="Aptos Display" panose="020B0004020202020204" pitchFamily="34" charset="0"/>
              <a:cs typeface="Arial"/>
              <a:sym typeface="Arial"/>
            </a:endParaRPr>
          </a:p>
          <a:p>
            <a:pPr marL="342900" lvl="0">
              <a:spcBef>
                <a:spcPts val="0"/>
              </a:spcBef>
              <a:buClr>
                <a:srgbClr val="000000"/>
              </a:buClr>
              <a:buFontTx/>
              <a:buChar char="-"/>
            </a:pPr>
            <a:r>
              <a:rPr lang="fr-FR" sz="2400" dirty="0">
                <a:solidFill>
                  <a:schemeClr val="bg1"/>
                </a:solidFill>
                <a:latin typeface="Aptos Display" panose="020B0004020202020204" pitchFamily="34" charset="0"/>
                <a:cs typeface="Arial"/>
                <a:sym typeface="Arial"/>
              </a:rPr>
              <a:t>Soit 7 individus sur 100</a:t>
            </a:r>
          </a:p>
        </p:txBody>
      </p:sp>
      <p:pic>
        <p:nvPicPr>
          <p:cNvPr id="3" name="Image 2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647C2C95-1A47-9B3A-BAE2-1AA71247F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068" y="2488866"/>
            <a:ext cx="6330472" cy="38028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2) Nombre théorique de personnes qui pourraient être nourries en 2017</a:t>
            </a:r>
            <a:endParaRPr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Google Shape;153;p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31714" y="2222285"/>
                <a:ext cx="10554574" cy="363651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indent="0">
                  <a:spcBef>
                    <a:spcPts val="0"/>
                  </a:spcBef>
                  <a:buClr>
                    <a:srgbClr val="0000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𝑑𝑖𝑠𝑝𝑜𝑛𝑖𝑏𝑖𝑙𝑖𝑡</m:t>
                          </m:r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é </m:t>
                          </m:r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𝑎𝑙𝑖𝑚𝑒𝑛𝑡𝑎𝑖𝑟𝑒</m:t>
                          </m:r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𝑝𝑜𝑝𝑢𝑙𝑎𝑡𝑖𝑜𝑛</m:t>
                          </m:r>
                        </m:num>
                        <m:den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𝑏𝑒𝑠𝑜𝑖𝑛𝑠</m:t>
                          </m:r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𝑗𝑜𝑢𝑟𝑛𝑎𝑙𝑖𝑒𝑟𝑠</m:t>
                          </m:r>
                        </m:den>
                      </m:f>
                    </m:oMath>
                  </m:oMathPara>
                </a14:m>
                <a:endParaRPr lang="fr-FR" sz="2400" dirty="0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  <a:p>
                <a:pPr marL="0" indent="0">
                  <a:spcBef>
                    <a:spcPts val="0"/>
                  </a:spcBef>
                  <a:buClr>
                    <a:srgbClr val="000000"/>
                  </a:buClr>
                  <a:buNone/>
                </a:pPr>
                <a:endParaRPr lang="fr-FR" sz="2400" dirty="0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  <a:p>
                <a:pPr marL="0" indent="0">
                  <a:spcBef>
                    <a:spcPts val="0"/>
                  </a:spcBef>
                  <a:buClr>
                    <a:srgbClr val="000000"/>
                  </a:buClr>
                  <a:buNone/>
                </a:pPr>
                <a:r>
                  <a:rPr lang="fr-FR" sz="2400" dirty="0">
                    <a:latin typeface="Aptos Display" panose="020B0004020202020204" pitchFamily="34" charset="0"/>
                  </a:rPr>
                  <a:t>2250 kcal par personne et par jour en moyenne</a:t>
                </a:r>
              </a:p>
              <a:p>
                <a:pPr marL="0" indent="0">
                  <a:spcBef>
                    <a:spcPts val="0"/>
                  </a:spcBef>
                  <a:buClr>
                    <a:srgbClr val="000000"/>
                  </a:buClr>
                  <a:buNone/>
                </a:pPr>
                <a:r>
                  <a:rPr lang="fr-FR" sz="2000" i="1" dirty="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(source : </a:t>
                </a:r>
                <a:r>
                  <a:rPr lang="fr-FR" sz="2000" i="1" dirty="0">
                    <a:latin typeface="Aptos Display" panose="020B0004020202020204" pitchFamily="34" charset="0"/>
                  </a:rPr>
                  <a:t>https://www.vidal.fr)</a:t>
                </a:r>
                <a:endParaRPr lang="fr-FR" sz="2400" dirty="0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153" name="Google Shape;153;p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1714" y="2222285"/>
                <a:ext cx="10554574" cy="36365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>
                  <a:srgbClr val="000000">
                    <a:alpha val="40000"/>
                  </a:srgbClr>
                </a:outerShdw>
              </a:effec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6AC0548-2441-17C5-A77D-EA3D5296A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05" y="2334576"/>
            <a:ext cx="5679681" cy="34119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3) Nombre théorique de personnes qui pourraient être nourries uniquement avec les végétaux en 2017</a:t>
            </a:r>
            <a:endParaRPr/>
          </a:p>
        </p:txBody>
      </p:sp>
      <p:sp>
        <p:nvSpPr>
          <p:cNvPr id="160" name="Google Shape;160;p6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Même méthode</a:t>
            </a:r>
            <a:endParaRPr sz="2400" dirty="0">
              <a:latin typeface="Aptos Display" panose="020B0004020202020204" pitchFamily="34" charset="0"/>
            </a:endParaRPr>
          </a:p>
        </p:txBody>
      </p:sp>
      <p:pic>
        <p:nvPicPr>
          <p:cNvPr id="4" name="Image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51D61687-2C29-31F6-FF42-05BBC6786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533" y="2265806"/>
            <a:ext cx="6843619" cy="41111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4) Répartition de la disponibilité intérieure</a:t>
            </a:r>
            <a:endParaRPr/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2400" dirty="0"/>
              <a:t>- 49% alimentation humaine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sz="2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2400" dirty="0"/>
              <a:t>- 13% alimentation animale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sz="2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2400" dirty="0"/>
              <a:t>- 38% utilisations diverses</a:t>
            </a:r>
            <a:endParaRPr sz="2400" dirty="0"/>
          </a:p>
        </p:txBody>
      </p:sp>
      <p:pic>
        <p:nvPicPr>
          <p:cNvPr id="3" name="Image 2" descr="Une image contenant text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D452F12A-5373-9A45-80EE-EDAD6439C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390" y="2357811"/>
            <a:ext cx="6789014" cy="36365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5) Part de l’utilisation des principales céréales entre l’alimentation humaine et animale</a:t>
            </a:r>
            <a:endParaRPr/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4185657" y="1029521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sz="2400" dirty="0">
                <a:latin typeface="Aptos Display" panose="020B0004020202020204" pitchFamily="34" charset="0"/>
              </a:rPr>
              <a:t>43% alimentation humaine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sz="2400" dirty="0">
                <a:latin typeface="Aptos Display" panose="020B0004020202020204" pitchFamily="34" charset="0"/>
              </a:rPr>
              <a:t>36% alimentation animale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sz="2400" dirty="0">
                <a:latin typeface="Aptos Display" panose="020B0004020202020204" pitchFamily="34" charset="0"/>
              </a:rPr>
              <a:t>21% utilisation diverses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endParaRPr lang="fr-FR" sz="2400" dirty="0">
              <a:latin typeface="Aptos Display" panose="020B0004020202020204" pitchFamily="34" charset="0"/>
            </a:endParaRPr>
          </a:p>
        </p:txBody>
      </p:sp>
      <p:pic>
        <p:nvPicPr>
          <p:cNvPr id="3" name="Image 2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24855CA8-7CE6-94CB-08BA-001323CB0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91" y="3429000"/>
            <a:ext cx="5319463" cy="3197474"/>
          </a:xfrm>
          <a:prstGeom prst="rect">
            <a:avLst/>
          </a:prstGeom>
        </p:spPr>
      </p:pic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046773B-A00A-A41E-E54E-6D001075E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846" y="3429000"/>
            <a:ext cx="5319463" cy="31974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</a:rPr>
              <a:t>2017</a:t>
            </a:r>
            <a:endParaRPr/>
          </a:p>
        </p:txBody>
      </p:sp>
      <p:sp>
        <p:nvSpPr>
          <p:cNvPr id="182" name="Google Shape;182;p9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- Catastrophes climatiques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- Guerre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- Instabilité politique</a:t>
            </a:r>
          </a:p>
        </p:txBody>
      </p:sp>
      <p:pic>
        <p:nvPicPr>
          <p:cNvPr id="3" name="Image 2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E15F73EF-F049-9770-3F18-052D1DA11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672" y="2556598"/>
            <a:ext cx="7176348" cy="3636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7) Liste des 10 pays qui ont le plus bénéficié de l’aide alimentaire entre 2013 et 2016</a:t>
            </a:r>
            <a:endParaRPr dirty="0"/>
          </a:p>
        </p:txBody>
      </p:sp>
      <p:sp>
        <p:nvSpPr>
          <p:cNvPr id="189" name="Google Shape;189;p1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fr-FR" sz="2400" dirty="0">
                <a:latin typeface="Aptos Display" panose="020B0004020202020204" pitchFamily="34" charset="0"/>
              </a:rPr>
              <a:t>- Catastrophes climatiques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fr-FR" sz="2400" dirty="0">
                <a:latin typeface="Aptos Display" panose="020B0004020202020204" pitchFamily="34" charset="0"/>
              </a:rPr>
              <a:t>- Guerre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fr-FR" sz="2400" dirty="0">
                <a:latin typeface="Aptos Display" panose="020B0004020202020204" pitchFamily="34" charset="0"/>
              </a:rPr>
              <a:t>- Instabilité politique</a:t>
            </a:r>
          </a:p>
        </p:txBody>
      </p:sp>
      <p:pic>
        <p:nvPicPr>
          <p:cNvPr id="3" name="Image 2" descr="Une image contenant texte, capture d’écran, affichage, nombre&#10;&#10;Le contenu généré par l’IA peut être incorrect.">
            <a:extLst>
              <a:ext uri="{FF2B5EF4-FFF2-40B4-BE49-F238E27FC236}">
                <a16:creationId xmlns:a16="http://schemas.microsoft.com/office/drawing/2014/main" id="{B671DB25-8592-9D21-2582-745ED6087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186" y="2696483"/>
            <a:ext cx="6982677" cy="35011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8) Évolution de l’aide alimentaire pour les 5 pays qui en ont le plus bénéficié entre 2013 et 2016</a:t>
            </a:r>
            <a:endParaRPr/>
          </a:p>
        </p:txBody>
      </p:sp>
      <p:sp>
        <p:nvSpPr>
          <p:cNvPr id="196" name="Google Shape;196;g2233f607d43_0_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- Aucune aide en 2016 pour 3 pays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- Aide en baisse depuis 2014</a:t>
            </a:r>
          </a:p>
        </p:txBody>
      </p:sp>
      <p:pic>
        <p:nvPicPr>
          <p:cNvPr id="3" name="Image 2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F7305820-BDED-1B45-AFCE-43A2BD84D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2454681"/>
            <a:ext cx="6312798" cy="38360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disponibilité alimentaire par habitant</a:t>
            </a:r>
            <a:endParaRPr sz="3200"/>
          </a:p>
        </p:txBody>
      </p:sp>
      <p:sp>
        <p:nvSpPr>
          <p:cNvPr id="203" name="Google Shape;203;p11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Pays riches et développés</a:t>
            </a:r>
            <a:endParaRPr sz="2400" dirty="0">
              <a:latin typeface="Aptos Display" panose="020B0004020202020204" pitchFamily="34" charset="0"/>
            </a:endParaRPr>
          </a:p>
        </p:txBody>
      </p:sp>
      <p:pic>
        <p:nvPicPr>
          <p:cNvPr id="3" name="Image 2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935F2DF9-A4C6-061A-CC13-635A319E0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399" y="2451196"/>
            <a:ext cx="7077301" cy="38907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faible disponibilité alimentaire par habitant</a:t>
            </a:r>
            <a:endParaRPr/>
          </a:p>
        </p:txBody>
      </p:sp>
      <p:sp>
        <p:nvSpPr>
          <p:cNvPr id="210" name="Google Shape;210;p12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sz="2400" dirty="0">
                <a:latin typeface="Aptos Display" panose="020B0004020202020204" pitchFamily="34" charset="0"/>
              </a:rPr>
              <a:t>Pays pauvres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en voie de développement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sz="2400" dirty="0">
                <a:latin typeface="Aptos Display" panose="020B0004020202020204" pitchFamily="34" charset="0"/>
              </a:rPr>
              <a:t>Catastrophes climatiques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sz="2400" dirty="0">
                <a:latin typeface="Aptos Display" panose="020B0004020202020204" pitchFamily="34" charset="0"/>
              </a:rPr>
              <a:t>Guerres et instabilité politique</a:t>
            </a:r>
            <a:endParaRPr sz="2400" dirty="0">
              <a:latin typeface="Aptos Display" panose="020B0004020202020204" pitchFamily="34" charset="0"/>
            </a:endParaRPr>
          </a:p>
        </p:txBody>
      </p:sp>
      <p:pic>
        <p:nvPicPr>
          <p:cNvPr id="3" name="Image 2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F8D8C5CB-11B4-4C51-4AC2-C501B2860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239" y="2819400"/>
            <a:ext cx="6864334" cy="30393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10) Étude sur le manioc en Thaïlande</a:t>
            </a:r>
            <a:endParaRPr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74748FC-9939-3502-2302-BDFCC54390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59387" y="2187756"/>
            <a:ext cx="826059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Sous-nutrition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	6 200 000 habitants</a:t>
            </a:r>
            <a:r>
              <a:rPr lang="fr-FR" altLang="fr-FR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 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oit 9 % la population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2400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M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anioc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	Production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exportée à 83%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	Importé à hauteur de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4% de la production.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2400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D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isponibilité intérieure de manioc : 2% de la population</a:t>
            </a:r>
            <a:endParaRPr lang="fr-FR" altLang="fr-FR" sz="2400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Disponibilité alimentaire totale : 2785 kcal par habitant et par jour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2400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Causes : Inégalités ? Tourisme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11) Analyses complémentaires</a:t>
            </a:r>
            <a:endParaRPr sz="320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600AE6-E6AF-80CD-961E-08AB1D059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fr-FR" sz="2400" dirty="0">
                <a:latin typeface="Aptos Display" panose="020B0004020202020204" pitchFamily="34" charset="0"/>
              </a:rPr>
              <a:t>Pertes : 370 325 564 de personnes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Claires inégalités dans la répartition mondiale de nourriture.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400" dirty="0">
              <a:latin typeface="Aptos Display" panose="020B0004020202020204" pitchFamily="34" charset="0"/>
            </a:endParaRP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Place des végétaux dans l’alimentation ?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400" dirty="0">
              <a:latin typeface="Aptos Display" panose="020B0004020202020204" pitchFamily="34" charset="0"/>
            </a:endParaRP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Pertinence de l’élevage ? 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400" dirty="0">
              <a:latin typeface="Aptos Display" panose="020B0004020202020204" pitchFamily="34" charset="0"/>
            </a:endParaRP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dirty="0">
                <a:latin typeface="Aptos Display" panose="020B0004020202020204" pitchFamily="34" charset="0"/>
              </a:rPr>
              <a:t>Limiter les pertes ?</a:t>
            </a:r>
            <a:endParaRPr sz="24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Office PowerPoint</Application>
  <PresentationFormat>Grand écran</PresentationFormat>
  <Paragraphs>80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Arial</vt:lpstr>
      <vt:lpstr>Century Gothic</vt:lpstr>
      <vt:lpstr>Noto Sans Symbols</vt:lpstr>
      <vt:lpstr>Cambria Math</vt:lpstr>
      <vt:lpstr>Calibri</vt:lpstr>
      <vt:lpstr>Aptos Display</vt:lpstr>
      <vt:lpstr>Entre guillemets</vt:lpstr>
      <vt:lpstr>Étude sur l’alimentation dans le monde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11) Analyses complémentaires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Marvin Kangbeni</cp:lastModifiedBy>
  <cp:revision>13</cp:revision>
  <dcterms:created xsi:type="dcterms:W3CDTF">2023-03-17T20:58:30Z</dcterms:created>
  <dcterms:modified xsi:type="dcterms:W3CDTF">2026-04-10T11:44:21Z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